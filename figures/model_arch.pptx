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_arch_notext@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7" y="0"/>
            <a:ext cx="11557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447" y="122682"/>
            <a:ext cx="6443726" cy="334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00" b="1">
                <a:solidFill>
                  <a:srgbClr val="12161C"/>
                </a:solidFill>
                <a:latin typeface="Arial"/>
              </a:rPr>
              <a:t>Two generative heads on one shared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422783"/>
            <a:ext cx="8585454" cy="2066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5B6673"/>
                </a:solidFill>
                <a:latin typeface="Arial"/>
              </a:rPr>
              <a:t>tracker: autoregressive transformer  ·  calorimeter: flow matching  ·  the detector is only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547" y="816482"/>
            <a:ext cx="1309878" cy="2066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12161C"/>
                </a:solidFill>
                <a:latin typeface="Arial"/>
              </a:rPr>
              <a:t>truth particle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115441"/>
            <a:ext cx="553974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log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128689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1458341"/>
            <a:ext cx="487045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log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62979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180124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197269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vr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214414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vz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2315591"/>
            <a:ext cx="45720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PDG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9847" y="2328037"/>
            <a:ext cx="457200" cy="1870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0E9488"/>
                </a:solidFill>
                <a:latin typeface="Arial"/>
              </a:rPr>
              <a:t>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2297" y="949706"/>
            <a:ext cx="457200" cy="2165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0E9488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647" y="911352"/>
            <a:ext cx="1286256" cy="2362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TRACKER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7445" y="930782"/>
            <a:ext cx="2302002" cy="2066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5B6673"/>
                </a:solidFill>
                <a:latin typeface="Arial"/>
              </a:rPr>
              <a:t>autoregressive 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029" y="1121791"/>
            <a:ext cx="2963418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5B6673"/>
                </a:solidFill>
                <a:latin typeface="Arial"/>
              </a:rPr>
              <a:t>closest published model:  arXiv:2512.24254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5447" y="3033014"/>
            <a:ext cx="1924050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1F6FEB"/>
                </a:solidFill>
                <a:latin typeface="Arial"/>
              </a:rPr>
              <a:t>causal self-attention  ×4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847" y="2118614"/>
            <a:ext cx="1569720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C5CD6"/>
                </a:solidFill>
                <a:latin typeface="Arial"/>
              </a:rPr>
              <a:t>layer (48) →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847" y="2740914"/>
            <a:ext cx="1994916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C5CD6"/>
                </a:solidFill>
                <a:latin typeface="Arial"/>
              </a:rPr>
              <a:t>local x, y, z  ·  512 bins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2747" y="1845437"/>
            <a:ext cx="676021" cy="1870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7C5CD6"/>
                </a:solidFill>
                <a:latin typeface="Arial"/>
              </a:rPr>
              <a:t>2 heads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5447" y="1521714"/>
            <a:ext cx="1782318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1F6FEB"/>
                </a:solidFill>
                <a:latin typeface="Arial"/>
              </a:rPr>
              <a:t>sampled hit fed back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647" y="3718052"/>
            <a:ext cx="1664208" cy="2362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E8871A"/>
                </a:solidFill>
                <a:latin typeface="Arial"/>
              </a:rPr>
              <a:t>CALORIMETER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0122" y="3737483"/>
            <a:ext cx="2219325" cy="2066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5B6673"/>
                </a:solidFill>
                <a:latin typeface="Arial"/>
              </a:rPr>
              <a:t>conditional flow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2094" y="3928491"/>
            <a:ext cx="3967353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5B6673"/>
                </a:solidFill>
                <a:latin typeface="Arial"/>
              </a:rPr>
              <a:t>closest published model:  CaloClouds II, arXiv:2309.05704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447" y="3928237"/>
            <a:ext cx="1648460" cy="1870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E8871A"/>
                </a:solidFill>
                <a:latin typeface="Arial"/>
              </a:rPr>
              <a:t>3 heads, no 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7047" y="4353560"/>
            <a:ext cx="703580" cy="196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Arial"/>
              </a:rPr>
              <a:t>how big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9747" y="5465191"/>
            <a:ext cx="2361057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mixture → total E, N points,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8547" y="4353560"/>
            <a:ext cx="546100" cy="196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1">
                <a:solidFill>
                  <a:srgbClr val="E8871A"/>
                </a:solidFill>
                <a:latin typeface="Arial"/>
              </a:rPr>
              <a:t>where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247" y="5312791"/>
            <a:ext cx="2160270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velocity field, 50 Euler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247" y="5465191"/>
            <a:ext cx="1892554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noise → all points at once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0047" y="4353560"/>
            <a:ext cx="939800" cy="196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1">
                <a:solidFill>
                  <a:srgbClr val="C2384A"/>
                </a:solidFill>
                <a:latin typeface="Arial"/>
              </a:rPr>
              <a:t>how bright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2747" y="5312791"/>
            <a:ext cx="2026412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Gaussian mixture over log E,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2747" y="5465191"/>
            <a:ext cx="1959483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truncated at the 50 keV cut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2047" y="930782"/>
            <a:ext cx="648462" cy="2066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12161C"/>
                </a:solidFill>
                <a:latin typeface="Arial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2847" y="1305814"/>
            <a:ext cx="1498854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673"/>
                </a:solidFill>
                <a:latin typeface="Arial"/>
              </a:rPr>
              <a:t>hits, inner → outer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2847" y="4112514"/>
            <a:ext cx="2420112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673"/>
                </a:solidFill>
                <a:latin typeface="Arial"/>
              </a:rPr>
              <a:t>energy deposits — a point cloud,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2847" y="4264914"/>
            <a:ext cx="2490978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C2384A"/>
                </a:solidFill>
                <a:latin typeface="Arial"/>
              </a:rPr>
              <a:t>NOT projected onto detector cells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5447" y="5928614"/>
            <a:ext cx="4900422" cy="1771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C2384A"/>
                </a:solidFill>
                <a:latin typeface="Arial"/>
              </a:rPr>
              <a:t>each head also sees the one before it: globals → positions → energy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447" y="6468491"/>
            <a:ext cx="11864975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flow matching: Lipman et al. arXiv:2210.02747  ·  OT-CFM: Tong et al. arXiv:2302.00482  ·  point-cloud calorimeter: CaloClouds arXiv:2305.04847, CaloClouds II arXiv:2309.05704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447" y="6620891"/>
            <a:ext cx="7380732" cy="1673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5B6673"/>
                </a:solidFill>
                <a:latin typeface="Arial"/>
              </a:rPr>
              <a:t>tracker sequence model: arXiv:2512.24254  ·  data + geometry: ColliderML / OpenDataDetector arXiv:2512.15230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7" y="0"/>
            <a:ext cx="1155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